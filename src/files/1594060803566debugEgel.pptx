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85" autoAdjust="0"/>
    <p:restoredTop sz="94660"/>
  </p:normalViewPr>
  <p:slideViewPr>
    <p:cSldViewPr snapToGrid="0">
      <p:cViewPr varScale="1">
        <p:scale>
          <a:sx n="72" d="100"/>
          <a:sy n="72" d="100"/>
        </p:scale>
        <p:origin x="7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9456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774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434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3201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3454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395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947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3388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0118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8187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0058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5865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6529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444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0215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2916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609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4592841-8ED3-49E7-B58E-F31AB8519E57}" type="datetimeFigureOut">
              <a:rPr lang="es-MX" smtClean="0"/>
              <a:t>27/06/2020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64522-4891-4BF0-87D8-BDC7BEF6E83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75302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205AB90-C766-4D9A-9309-A8FE898DBA58}"/>
              </a:ext>
            </a:extLst>
          </p:cNvPr>
          <p:cNvSpPr/>
          <p:nvPr/>
        </p:nvSpPr>
        <p:spPr>
          <a:xfrm>
            <a:off x="1139687" y="2319131"/>
            <a:ext cx="9912626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La Codificación</a:t>
            </a:r>
          </a:p>
          <a:p>
            <a:pPr algn="ctr"/>
            <a:r>
              <a:rPr lang="es-MX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Materia: EGEL .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Profesor: Alejandro Israel Romo Martínez .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Nombre: Juan Carlos Pedroza Hernández.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Matrícula: UP170132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Fecha: 15/06/2020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5C4B50-8FB5-4364-BE8D-5B5A08FC9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09" y="532005"/>
            <a:ext cx="3151486" cy="10649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CF565F2-4EC3-4156-92CA-AE15DE105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470" y="3323899"/>
            <a:ext cx="2465060" cy="232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79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4A205-C98D-4289-AB86-7CE104A50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65265"/>
          </a:xfrm>
        </p:spPr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25A335-9E07-4A67-9C13-0FBEE8DCD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409" y="1311966"/>
            <a:ext cx="9952381" cy="4936434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En este trabajo se mostrarán las distintas técnicas de codificación,  las cuales nos enseñarán a que otros programadores puedan entender nuestro código y tener  una buena sintaxis.</a:t>
            </a:r>
          </a:p>
          <a:p>
            <a:pPr marL="0" indent="0">
              <a:buNone/>
            </a:pPr>
            <a:r>
              <a:rPr lang="es-MX" dirty="0"/>
              <a:t>Otras de las técnicas que aprenderemos es poder hacer </a:t>
            </a:r>
            <a:r>
              <a:rPr lang="es-MX" dirty="0" err="1"/>
              <a:t>debugin</a:t>
            </a:r>
            <a:r>
              <a:rPr lang="es-MX" dirty="0"/>
              <a:t> el cual nos servirá para detectar de errores de una manera mas sencilla en el código</a:t>
            </a:r>
          </a:p>
        </p:txBody>
      </p:sp>
    </p:spTree>
    <p:extLst>
      <p:ext uri="{BB962C8B-B14F-4D97-AF65-F5344CB8AC3E}">
        <p14:creationId xmlns:p14="http://schemas.microsoft.com/office/powerpoint/2010/main" val="3061187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199ED-7111-4F68-9F93-50684D79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Codificación </a:t>
            </a:r>
          </a:p>
        </p:txBody>
      </p:sp>
      <p:pic>
        <p:nvPicPr>
          <p:cNvPr id="2050" name="Picture 2" descr="Codificación - EcuRed">
            <a:extLst>
              <a:ext uri="{FF2B5EF4-FFF2-40B4-BE49-F238E27FC236}">
                <a16:creationId xmlns:a16="http://schemas.microsoft.com/office/drawing/2014/main" id="{C38CE05A-B63E-41B7-B92F-2B737C34B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38" y="1850809"/>
            <a:ext cx="5829862" cy="322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uál es la diferencia entre codificación y programación? – codelatin">
            <a:extLst>
              <a:ext uri="{FF2B5EF4-FFF2-40B4-BE49-F238E27FC236}">
                <a16:creationId xmlns:a16="http://schemas.microsoft.com/office/drawing/2014/main" id="{18471969-B383-4D1D-9843-A7AB58035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348" y="3600351"/>
            <a:ext cx="4500968" cy="300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odificación de artículos en un almacén: ¿Cómo lograrlo ...">
            <a:extLst>
              <a:ext uri="{FF2B5EF4-FFF2-40B4-BE49-F238E27FC236}">
                <a16:creationId xmlns:a16="http://schemas.microsoft.com/office/drawing/2014/main" id="{501E617D-B1D3-4D2C-A9CA-A18393FC1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147" y="1247069"/>
            <a:ext cx="3995630" cy="207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141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96EBC-94D7-471B-8C6C-ABE28ABB4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91769"/>
          </a:xfrm>
        </p:spPr>
        <p:txBody>
          <a:bodyPr/>
          <a:lstStyle/>
          <a:p>
            <a:r>
              <a:rPr lang="es-MX" dirty="0"/>
              <a:t>6.2  La codificación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98669-18F2-413B-A21B-AA4CB42DE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444487"/>
            <a:ext cx="9951825" cy="4638261"/>
          </a:xfrm>
        </p:spPr>
        <p:txBody>
          <a:bodyPr/>
          <a:lstStyle/>
          <a:p>
            <a:pPr marL="0" indent="0" algn="just">
              <a:buNone/>
            </a:pPr>
            <a:r>
              <a:rPr lang="es-MX" dirty="0"/>
              <a:t>Es la traducción de la especificación  del diseño  a un lenguaje de programación. Es una fase del proceso de desarrollo de un sistema, la codificación se lleva acabo una vez que todos los componentes hayan sido diseñados.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793C621-3DAD-4ADE-AE5F-9FA3D01A0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0" y="2722968"/>
            <a:ext cx="4945434" cy="269054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0BD7E57-1F61-4E7E-B13A-D34EACE52488}"/>
              </a:ext>
            </a:extLst>
          </p:cNvPr>
          <p:cNvSpPr txBox="1"/>
          <p:nvPr/>
        </p:nvSpPr>
        <p:spPr>
          <a:xfrm>
            <a:off x="875201" y="2870200"/>
            <a:ext cx="39888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Metas para buena codificación</a:t>
            </a:r>
          </a:p>
          <a:p>
            <a:pPr marL="285750" indent="-285750">
              <a:buFontTx/>
              <a:buChar char="-"/>
            </a:pPr>
            <a:r>
              <a:rPr lang="es-MX" dirty="0"/>
              <a:t>Código legible.</a:t>
            </a:r>
          </a:p>
          <a:p>
            <a:pPr marL="285750" indent="-285750">
              <a:buFontTx/>
              <a:buChar char="-"/>
            </a:pPr>
            <a:r>
              <a:rPr lang="es-MX" dirty="0"/>
              <a:t>Código trazable.</a:t>
            </a:r>
          </a:p>
          <a:p>
            <a:pPr marL="285750" indent="-285750">
              <a:buFontTx/>
              <a:buChar char="-"/>
            </a:pPr>
            <a:r>
              <a:rPr lang="es-MX" dirty="0"/>
              <a:t>Código correcto.</a:t>
            </a:r>
          </a:p>
          <a:p>
            <a:pPr marL="285750" indent="-285750">
              <a:buFontTx/>
              <a:buChar char="-"/>
            </a:pPr>
            <a:r>
              <a:rPr lang="es-MX" dirty="0"/>
              <a:t>Código completo. </a:t>
            </a:r>
          </a:p>
          <a:p>
            <a:pPr marL="285750" indent="-285750">
              <a:buFontTx/>
              <a:buChar char="-"/>
            </a:pPr>
            <a:r>
              <a:rPr lang="es-MX" dirty="0"/>
              <a:t>Buen desempeño.</a:t>
            </a:r>
          </a:p>
          <a:p>
            <a:pPr marL="285750" indent="-285750">
              <a:buFontTx/>
              <a:buChar char="-"/>
            </a:pPr>
            <a:r>
              <a:rPr lang="es-MX" dirty="0"/>
              <a:t>Producir código legible.</a:t>
            </a:r>
          </a:p>
        </p:txBody>
      </p:sp>
    </p:spTree>
    <p:extLst>
      <p:ext uri="{BB962C8B-B14F-4D97-AF65-F5344CB8AC3E}">
        <p14:creationId xmlns:p14="http://schemas.microsoft.com/office/powerpoint/2010/main" val="880770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9D436-AFC6-4473-8511-B71F8B098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6.2.1 El proseo de compilación </a:t>
            </a:r>
            <a:br>
              <a:rPr lang="es-MX" dirty="0"/>
            </a:b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479D5B-DE19-4C76-A985-FF7E39590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76400"/>
            <a:ext cx="8946541" cy="4571999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Este proceso verifica automáticamente que la sintaxis esté correcta  para después poder ejecutar el programa.</a:t>
            </a:r>
          </a:p>
          <a:p>
            <a:pPr marL="0" indent="0">
              <a:buNone/>
            </a:pPr>
            <a:r>
              <a:rPr lang="es-MX" dirty="0"/>
              <a:t>Para una buena compilación es recomendable compilar los esqueletos del programa y hacerlo bloque por bloque para ir arreglando de apoco los errores.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FB5E3C8-23C5-450C-9037-A5E320781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766" y="3429000"/>
            <a:ext cx="4456467" cy="291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43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874C19-172D-4FEC-AF32-FD7B85762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6.2.2 Reglas de codificación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03F323-E709-4E9F-AD8C-615463E5C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Definen un formato común para generar todos lo programas con el objetivo de facilitar la lectura.</a:t>
            </a:r>
          </a:p>
          <a:p>
            <a:pPr marL="0" indent="0">
              <a:buNone/>
            </a:pPr>
            <a:r>
              <a:rPr lang="es-MX" dirty="0"/>
              <a:t>Las reglas de codificación de finen un estilo que permite identificar fácilmente las estructuras en un programa. </a:t>
            </a:r>
          </a:p>
        </p:txBody>
      </p:sp>
      <p:pic>
        <p:nvPicPr>
          <p:cNvPr id="3074" name="Picture 2" descr="Programación - Concepto, ejemplos y programación informática">
            <a:extLst>
              <a:ext uri="{FF2B5EF4-FFF2-40B4-BE49-F238E27FC236}">
                <a16:creationId xmlns:a16="http://schemas.microsoft.com/office/drawing/2014/main" id="{5531990B-A061-4780-8C15-94343D6B6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26193"/>
            <a:ext cx="4326814" cy="216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390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F64EF-6BE5-4831-B49F-C5D5FDE4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6.2.3 Aspectos clave en las reglas de codificación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0B140C-970B-4D8F-8E03-DA3AB3FB4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1800" dirty="0"/>
              <a:t>Convenciones para nombres de identificación(variables, constantes, etc.).</a:t>
            </a:r>
          </a:p>
          <a:p>
            <a:r>
              <a:rPr lang="es-MX" sz="1800" dirty="0"/>
              <a:t>Declaración de identificador.</a:t>
            </a:r>
          </a:p>
          <a:p>
            <a:r>
              <a:rPr lang="es-MX" sz="1800" dirty="0"/>
              <a:t>Indentación.</a:t>
            </a:r>
          </a:p>
          <a:p>
            <a:r>
              <a:rPr lang="es-MX" sz="1800" dirty="0"/>
              <a:t>Reglas para el tamaño y partido de líneas.</a:t>
            </a:r>
          </a:p>
          <a:p>
            <a:r>
              <a:rPr lang="es-MX" sz="1800" dirty="0"/>
              <a:t>Reglas para comentarios explicativos.</a:t>
            </a:r>
          </a:p>
          <a:p>
            <a:r>
              <a:rPr lang="es-MX" sz="1800" dirty="0"/>
              <a:t>Utilización de espacios en blanco. </a:t>
            </a:r>
          </a:p>
          <a:p>
            <a:endParaRPr lang="es-MX" sz="1800" dirty="0"/>
          </a:p>
          <a:p>
            <a:endParaRPr lang="es-MX" sz="1800" dirty="0"/>
          </a:p>
          <a:p>
            <a:endParaRPr lang="es-MX" sz="1800" dirty="0"/>
          </a:p>
          <a:p>
            <a:endParaRPr lang="es-MX" sz="1800" dirty="0"/>
          </a:p>
        </p:txBody>
      </p:sp>
      <p:pic>
        <p:nvPicPr>
          <p:cNvPr id="4100" name="Picture 4" descr="Estos han sido los 10 lenguajes de programación más populares de ...">
            <a:extLst>
              <a:ext uri="{FF2B5EF4-FFF2-40B4-BE49-F238E27FC236}">
                <a16:creationId xmlns:a16="http://schemas.microsoft.com/office/drawing/2014/main" id="{1DC509FF-88DF-4E30-B3A7-3CA62CD48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523" y="3748314"/>
            <a:ext cx="4183330" cy="2976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69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5ABC4-F01C-4AE8-8FD4-5FD70C333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384746" cy="1400530"/>
          </a:xfrm>
        </p:spPr>
        <p:txBody>
          <a:bodyPr/>
          <a:lstStyle/>
          <a:p>
            <a:r>
              <a:rPr lang="es-MX" sz="2800" dirty="0"/>
              <a:t>6.2.4.1 Convenciones para nombres de identificadores (variables, constantes, clases y métodos)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DCFCDC-87D3-4D31-8E20-2B4F5B65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188802" cy="4352364"/>
          </a:xfrm>
        </p:spPr>
        <p:txBody>
          <a:bodyPr/>
          <a:lstStyle/>
          <a:p>
            <a:r>
              <a:rPr lang="es-MX" dirty="0"/>
              <a:t>Nombre significativo.</a:t>
            </a:r>
          </a:p>
          <a:p>
            <a:r>
              <a:rPr lang="es-MX" dirty="0"/>
              <a:t>Evitar uso de abreviaturas o letras solas, letras solo como indicadores de ciclos.</a:t>
            </a:r>
          </a:p>
          <a:p>
            <a:r>
              <a:rPr lang="es-MX" dirty="0"/>
              <a:t>Clases e interfases deben empezar con mayúsculas  y objetos con minúsculas.</a:t>
            </a:r>
          </a:p>
          <a:p>
            <a:r>
              <a:rPr lang="es-MX" dirty="0"/>
              <a:t>Notaciones </a:t>
            </a:r>
            <a:r>
              <a:rPr lang="es-MX" dirty="0" err="1"/>
              <a:t>CamelCase</a:t>
            </a:r>
            <a:endParaRPr lang="es-MX" dirty="0"/>
          </a:p>
        </p:txBody>
      </p:sp>
      <p:pic>
        <p:nvPicPr>
          <p:cNvPr id="5122" name="Picture 2" descr="React - Wikipedia, la enciclopedia libre">
            <a:extLst>
              <a:ext uri="{FF2B5EF4-FFF2-40B4-BE49-F238E27FC236}">
                <a16:creationId xmlns:a16="http://schemas.microsoft.com/office/drawing/2014/main" id="{64814DE4-819B-4A36-8EC8-97D4DB085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485" y="4387914"/>
            <a:ext cx="5508171" cy="201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466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D7CC0-3106-482E-98DF-06C46CB4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2800" dirty="0"/>
              <a:t>6.2.4.2 Reglas para la declaración de identificadores (variables, constantes, clases y métodos)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FC425E-51FC-4685-810B-2740001FC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6486ADA-E869-4385-AFC1-0F5D28C9C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08" y="1645295"/>
            <a:ext cx="9252548" cy="460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553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A6F40-6BE0-4505-94CD-5D68D0A27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6.2.4.3 Reglas de </a:t>
            </a:r>
            <a:r>
              <a:rPr lang="es-MX" dirty="0" err="1"/>
              <a:t>indentación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3ED11B-F2BF-4B6B-8E49-F9E742D47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82" y="1420913"/>
            <a:ext cx="6151090" cy="200808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673990A-5645-4AFB-916D-F1F7227A6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81" y="3600979"/>
            <a:ext cx="4020389" cy="323247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B3A2DF8-F875-4AD5-ACB7-A35A6410D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3712" y="3842703"/>
            <a:ext cx="5514975" cy="232410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694144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61DB0-123D-402E-BA8D-7F700545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6.2.4.4 Reglas para el tamaño y partido de líneas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E0AA7C3-8889-4DFA-80EC-25E8CF021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08" y="2047793"/>
            <a:ext cx="6934592" cy="14388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EFF4AFB-EF18-4D10-ABB7-895BF0009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438" y="3681147"/>
            <a:ext cx="7348923" cy="31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54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38C7C-7E3A-4A35-A811-817C7BD1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6.2.4.5 Reglas para comentarios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C373FE1-DAC7-4D93-912E-4CED6CDD5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614" y="1599051"/>
            <a:ext cx="8515735" cy="4338759"/>
          </a:xfrm>
        </p:spPr>
      </p:pic>
    </p:spTree>
    <p:extLst>
      <p:ext uri="{BB962C8B-B14F-4D97-AF65-F5344CB8AC3E}">
        <p14:creationId xmlns:p14="http://schemas.microsoft.com/office/powerpoint/2010/main" val="3968270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53625-79F2-482C-840B-FFEF21A45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6.2.4.6 Reglas de utilización de espacios en blanco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5491229-8FCA-4246-9267-425D4D8C2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2501468"/>
            <a:ext cx="10176347" cy="1855064"/>
          </a:xfrm>
        </p:spPr>
      </p:pic>
    </p:spTree>
    <p:extLst>
      <p:ext uri="{BB962C8B-B14F-4D97-AF65-F5344CB8AC3E}">
        <p14:creationId xmlns:p14="http://schemas.microsoft.com/office/powerpoint/2010/main" val="1267569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BA8B0-3A90-40DE-9421-9DB1BB90A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6.2.5 Otras reglas útiles</a:t>
            </a:r>
          </a:p>
        </p:txBody>
      </p:sp>
      <p:pic>
        <p:nvPicPr>
          <p:cNvPr id="6146" name="Picture 2" descr="Curso Avanzado de React - 4. React Redux - YouTube">
            <a:extLst>
              <a:ext uri="{FF2B5EF4-FFF2-40B4-BE49-F238E27FC236}">
                <a16:creationId xmlns:a16="http://schemas.microsoft.com/office/drawing/2014/main" id="{2E98EF70-1D64-4A04-9BB4-C99A33C7B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152983"/>
            <a:ext cx="9696450" cy="545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032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5996C-E2DF-44B1-914B-CCEF7705F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4582"/>
          </a:xfrm>
        </p:spPr>
        <p:txBody>
          <a:bodyPr/>
          <a:lstStyle/>
          <a:p>
            <a:r>
              <a:rPr lang="es-MX" sz="2800" dirty="0"/>
              <a:t>6.2.5.1 Anidamiento de instrucciones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628FBA-7954-4037-9F2A-42A8DCAA1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257300"/>
            <a:ext cx="9451533" cy="18288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75D7BDCF-8F21-4324-88DF-64A883C6263A}"/>
              </a:ext>
            </a:extLst>
          </p:cNvPr>
          <p:cNvSpPr txBox="1">
            <a:spLocks/>
          </p:cNvSpPr>
          <p:nvPr/>
        </p:nvSpPr>
        <p:spPr>
          <a:xfrm>
            <a:off x="607788" y="3369610"/>
            <a:ext cx="10098312" cy="8045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 sz="2800" dirty="0"/>
              <a:t>6.2.5.2 Se deben checar primero las condiciones de excepción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3E7106F-5A83-4726-A1CB-E6E09A9751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557" y="4174192"/>
            <a:ext cx="4238773" cy="267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20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6DAD3-0F6A-4D7C-A6FF-95D0D66D0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86609" cy="1400530"/>
          </a:xfrm>
        </p:spPr>
        <p:txBody>
          <a:bodyPr/>
          <a:lstStyle/>
          <a:p>
            <a:r>
              <a:rPr lang="es-MX" dirty="0"/>
              <a:t>6.2.6 Prácticas y </a:t>
            </a:r>
            <a:r>
              <a:rPr lang="es-MX" dirty="0" err="1"/>
              <a:t>tips</a:t>
            </a:r>
            <a:r>
              <a:rPr lang="es-MX" dirty="0"/>
              <a:t> recomendables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32EE6D-1B23-4F4E-9CD4-EB3DC49F9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Es recomendable usar librerías en lugar de reinventar .  Las librerías están probadas y optimizadas lo que hace el código mas rápido y con menos defectos.</a:t>
            </a:r>
          </a:p>
          <a:p>
            <a:pPr marL="0" indent="0">
              <a:buNone/>
            </a:pPr>
            <a:r>
              <a:rPr lang="es-MX" dirty="0"/>
              <a:t>Es necesario probar cada función o método antes de usarlo así asegurar el buen funcionamiento 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F0D96E-43CC-4872-BE10-F92FE4142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597" y="3800059"/>
            <a:ext cx="7350443" cy="277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81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9C65F-6796-4FB6-9BDD-D0F295A1A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2800" dirty="0"/>
              <a:t>6.3 Ejecución  del programa paso a paso para la detección y depuración de defectos en el código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D38157-714F-4D7B-8963-386F89DE2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0" y="2052918"/>
            <a:ext cx="9224353" cy="41954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400" dirty="0"/>
              <a:t>Consiste en ejecutar un programa paso a paso con el objetivo de detectar y depurar  los defectos del código. El detener la ejecución del programa en un punto deseado, al que se le conoce como </a:t>
            </a:r>
            <a:r>
              <a:rPr lang="es-MX" sz="1400" dirty="0" err="1"/>
              <a:t>breakepoin</a:t>
            </a:r>
            <a:r>
              <a:rPr lang="es-MX" sz="1400" dirty="0"/>
              <a:t> </a:t>
            </a:r>
          </a:p>
          <a:p>
            <a:pPr marL="0" indent="0" algn="just">
              <a:buNone/>
            </a:pPr>
            <a:r>
              <a:rPr lang="es-MX" sz="1400" dirty="0"/>
              <a:t>Fases: </a:t>
            </a:r>
          </a:p>
          <a:p>
            <a:pPr marL="0" indent="0" algn="just">
              <a:buNone/>
            </a:pPr>
            <a:r>
              <a:rPr lang="es-MX" sz="1400" dirty="0"/>
              <a:t>1- Estabilización: se encuentras las fases para reproducir el error ósea el estado que produce la falla.</a:t>
            </a:r>
          </a:p>
          <a:p>
            <a:pPr marL="0" indent="0" algn="just">
              <a:buNone/>
            </a:pPr>
            <a:r>
              <a:rPr lang="es-MX" sz="1400" dirty="0"/>
              <a:t>2- Localización: puede llegar a ser la etapa mas complicada. Consiste en localizar donde se produce la falla.</a:t>
            </a:r>
          </a:p>
          <a:p>
            <a:pPr marL="0" indent="0" algn="just">
              <a:buNone/>
            </a:pPr>
            <a:r>
              <a:rPr lang="es-MX" sz="1400" dirty="0"/>
              <a:t>3- Corrección: consiste en cambiar el código donde sea necesario  para arreglar la falla.</a:t>
            </a:r>
          </a:p>
          <a:p>
            <a:pPr marL="0" indent="0" algn="just">
              <a:buNone/>
            </a:pPr>
            <a:r>
              <a:rPr lang="es-MX" sz="1400" dirty="0"/>
              <a:t>4- Verificación: comprobar que realmente se arregló el problema.</a:t>
            </a:r>
          </a:p>
        </p:txBody>
      </p:sp>
    </p:spTree>
    <p:extLst>
      <p:ext uri="{BB962C8B-B14F-4D97-AF65-F5344CB8AC3E}">
        <p14:creationId xmlns:p14="http://schemas.microsoft.com/office/powerpoint/2010/main" val="209119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B0867-55F9-4FA8-BBE4-7D6D0288D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3200" dirty="0"/>
              <a:t>6.3.1 Ejemplo de </a:t>
            </a:r>
            <a:r>
              <a:rPr lang="es-MX" sz="3200" dirty="0" err="1"/>
              <a:t>debugging</a:t>
            </a:r>
            <a:r>
              <a:rPr lang="es-MX" sz="3200" dirty="0"/>
              <a:t> con NetBeans (Java)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F6D1B8-0D3F-45E1-936A-623E4847D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Nos da el ejemplo de un  programa en  java el cual tiene un error lo primero que hacen es poner el </a:t>
            </a:r>
            <a:r>
              <a:rPr lang="es-MX" dirty="0" err="1"/>
              <a:t>breake</a:t>
            </a:r>
            <a:r>
              <a:rPr lang="es-MX" dirty="0"/>
              <a:t> </a:t>
            </a:r>
            <a:r>
              <a:rPr lang="es-MX" dirty="0" err="1"/>
              <a:t>point</a:t>
            </a:r>
            <a:r>
              <a:rPr lang="es-MX" dirty="0"/>
              <a:t> en la línea que esta causando el error, después corren el  programa para ir viendo las salidas y entradas en las que podría estar causando el error  hasta que se arregla el problema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3C1234-DC7F-4A88-9763-DC55F4A47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89480" y="3026116"/>
            <a:ext cx="2112152" cy="379888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18B04C8-0C8D-432B-ADFE-7F16765F1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36852" y="4148483"/>
            <a:ext cx="2042734" cy="255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16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5E2CB-CA4D-4390-9242-F8DC5888D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6.3.2Diferentes formas de avanzar el </a:t>
            </a:r>
            <a:r>
              <a:rPr lang="es-MX" dirty="0" err="1"/>
              <a:t>debugger</a:t>
            </a:r>
            <a:r>
              <a:rPr lang="es-MX" dirty="0"/>
              <a:t>.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777D1C-5DCA-48D7-8F79-2A93EF950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434" y="2160445"/>
            <a:ext cx="7164666" cy="364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31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B9980-8E05-4030-BF90-F309FA2FB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8485189" cy="868082"/>
          </a:xfrm>
        </p:spPr>
        <p:txBody>
          <a:bodyPr/>
          <a:lstStyle/>
          <a:p>
            <a:r>
              <a:rPr lang="es-MX" dirty="0"/>
              <a:t>6.4 Refactorización de código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59275F-64B7-4DC7-933D-FCEA6EE98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511300"/>
            <a:ext cx="9237053" cy="4737099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Es el proceso para modificar el código y hacerlo mas claro por lo tanto mas fácil de mantener. Durante este proceso no se corrigen defectos ni se agregan funcionalidades.</a:t>
            </a:r>
          </a:p>
          <a:p>
            <a:pPr marL="0" indent="0">
              <a:buNone/>
            </a:pPr>
            <a:r>
              <a:rPr lang="es-MX" dirty="0"/>
              <a:t>Se hacen modificaciones en un programa sin alterar su comportamiento  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252525-7CE1-44CC-9FAD-63FAB7DCE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711" y="3294015"/>
            <a:ext cx="6803095" cy="162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60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8883A-1E7C-4792-ABFC-FBE9F46B0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Cuestionario </a:t>
            </a:r>
          </a:p>
        </p:txBody>
      </p:sp>
      <p:pic>
        <p:nvPicPr>
          <p:cNvPr id="1026" name="Picture 2" descr="Cómo hacer un cuestionario | Infoautónomos">
            <a:extLst>
              <a:ext uri="{FF2B5EF4-FFF2-40B4-BE49-F238E27FC236}">
                <a16:creationId xmlns:a16="http://schemas.microsoft.com/office/drawing/2014/main" id="{24E8F57A-55F0-4346-A3B7-0C8E6C6B1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78" y="1541463"/>
            <a:ext cx="6440179" cy="428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668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8BA73-CCA3-4F9F-9BC7-34C122960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304800"/>
            <a:ext cx="9643453" cy="59435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/>
              <a:t>1.- ¿Cuáles son las características deseables de un buen código?</a:t>
            </a:r>
          </a:p>
          <a:p>
            <a:pPr marL="0" indent="0">
              <a:buNone/>
            </a:pPr>
            <a:r>
              <a:rPr lang="es-MX" dirty="0"/>
              <a:t>Código legible, código trazable, código correcto, código completo y buen desempeño </a:t>
            </a:r>
          </a:p>
          <a:p>
            <a:pPr marL="0" indent="0">
              <a:buNone/>
            </a:pPr>
            <a:r>
              <a:rPr lang="es-MX" dirty="0"/>
              <a:t>2.- Explicar qué significa que el código sea trazable.</a:t>
            </a:r>
          </a:p>
          <a:p>
            <a:pPr marL="0" indent="0">
              <a:buNone/>
            </a:pPr>
            <a:r>
              <a:rPr lang="es-MX" dirty="0"/>
              <a:t>El código  se debe a pegar al diseño    </a:t>
            </a:r>
          </a:p>
          <a:p>
            <a:pPr marL="0" indent="0">
              <a:buNone/>
            </a:pPr>
            <a:r>
              <a:rPr lang="es-MX" dirty="0"/>
              <a:t>3.- ¿Qué definen las reglas de codificación?</a:t>
            </a:r>
          </a:p>
          <a:p>
            <a:pPr marL="0" indent="0">
              <a:buNone/>
            </a:pPr>
            <a:r>
              <a:rPr lang="es-MX" dirty="0"/>
              <a:t>Definen un formato en común para generar todos los programas con el objetivo de facilitar la lectura </a:t>
            </a:r>
          </a:p>
          <a:p>
            <a:pPr marL="0" indent="0">
              <a:buNone/>
            </a:pPr>
            <a:r>
              <a:rPr lang="es-MX" dirty="0"/>
              <a:t>4.- Decir si es verdadero o falso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 Las reglas de codificación las puede hacer una empresa de</a:t>
            </a:r>
          </a:p>
          <a:p>
            <a:pPr marL="0" indent="0">
              <a:buNone/>
            </a:pPr>
            <a:r>
              <a:rPr lang="es-MX" dirty="0"/>
              <a:t>software para que las sigan los desarrolladores que contrata.</a:t>
            </a:r>
          </a:p>
          <a:p>
            <a:pPr marL="0" indent="0">
              <a:buNone/>
            </a:pPr>
            <a:r>
              <a:rPr lang="es-MX" dirty="0"/>
              <a:t> Las reglas de codificación se pueden hacer para que las sigan los</a:t>
            </a:r>
          </a:p>
          <a:p>
            <a:pPr marL="0" indent="0">
              <a:buNone/>
            </a:pPr>
            <a:r>
              <a:rPr lang="es-MX" dirty="0"/>
              <a:t>que trabajan en un proyecto en particular.</a:t>
            </a:r>
          </a:p>
          <a:p>
            <a:pPr marL="0" indent="0">
              <a:buNone/>
            </a:pPr>
            <a:r>
              <a:rPr lang="es-MX" dirty="0"/>
              <a:t> Las reglas de codificación se pueden hacer para un lenguaje en</a:t>
            </a:r>
          </a:p>
          <a:p>
            <a:pPr marL="0" indent="0">
              <a:buNone/>
            </a:pPr>
            <a:r>
              <a:rPr lang="es-MX" dirty="0"/>
              <a:t>particular.</a:t>
            </a:r>
          </a:p>
          <a:p>
            <a:pPr marL="0" indent="0">
              <a:buNone/>
            </a:pPr>
            <a:r>
              <a:rPr lang="es-MX" dirty="0"/>
              <a:t>“FALSO ”</a:t>
            </a:r>
          </a:p>
        </p:txBody>
      </p:sp>
    </p:spTree>
    <p:extLst>
      <p:ext uri="{BB962C8B-B14F-4D97-AF65-F5344CB8AC3E}">
        <p14:creationId xmlns:p14="http://schemas.microsoft.com/office/powerpoint/2010/main" val="2014409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AC90AF-E4DB-4904-A0A9-D53558144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112" y="398289"/>
            <a:ext cx="8946541" cy="595896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AF2FC96-61A6-4938-B54B-D9661B57B9EE}"/>
              </a:ext>
            </a:extLst>
          </p:cNvPr>
          <p:cNvSpPr txBox="1"/>
          <p:nvPr/>
        </p:nvSpPr>
        <p:spPr>
          <a:xfrm>
            <a:off x="101600" y="232229"/>
            <a:ext cx="786674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5.- Cambiar el siguiente código de tal forma que primero se chequen las condiciones de excepción.</a:t>
            </a:r>
          </a:p>
          <a:p>
            <a:endParaRPr lang="es-MX" dirty="0"/>
          </a:p>
          <a:p>
            <a:r>
              <a:rPr lang="es-MX" dirty="0"/>
              <a:t>7.- ¿En qué consiste hacer </a:t>
            </a:r>
            <a:r>
              <a:rPr lang="es-MX" dirty="0" err="1"/>
              <a:t>debugging</a:t>
            </a:r>
            <a:r>
              <a:rPr lang="es-MX" dirty="0"/>
              <a:t>?</a:t>
            </a:r>
          </a:p>
          <a:p>
            <a:r>
              <a:rPr lang="es-MX" dirty="0"/>
              <a:t>Ejecutar un programa paso a paso con el objetivo de detectar y depurar los defectos del código </a:t>
            </a:r>
          </a:p>
          <a:p>
            <a:endParaRPr lang="es-MX" dirty="0"/>
          </a:p>
          <a:p>
            <a:r>
              <a:rPr lang="es-MX" dirty="0"/>
              <a:t>8.- ¿Qué es la refactorización?</a:t>
            </a:r>
          </a:p>
          <a:p>
            <a:r>
              <a:rPr lang="es-MX" dirty="0"/>
              <a:t>Proceso de modificar el código para que sea mas claro y por lo tanto mas fácil de mantener </a:t>
            </a:r>
          </a:p>
          <a:p>
            <a:endParaRPr lang="es-MX" dirty="0"/>
          </a:p>
          <a:p>
            <a:r>
              <a:rPr lang="es-MX" dirty="0"/>
              <a:t>1. El departamento de tecnologías de la información de una empresa está a punto de iniciar el desarrollo de una aplicación, considerando los</a:t>
            </a:r>
          </a:p>
          <a:p>
            <a:r>
              <a:rPr lang="es-MX" dirty="0"/>
              <a:t>siguientes lenguajes de programación, seleccione los que sean orientados a objetos.</a:t>
            </a:r>
          </a:p>
          <a:p>
            <a:r>
              <a:rPr lang="es-MX" dirty="0"/>
              <a:t>1. LISP</a:t>
            </a:r>
          </a:p>
          <a:p>
            <a:r>
              <a:rPr lang="es-MX" dirty="0"/>
              <a:t>2. JAVA</a:t>
            </a:r>
          </a:p>
          <a:p>
            <a:r>
              <a:rPr lang="es-MX" dirty="0"/>
              <a:t>3. FORTRAN</a:t>
            </a:r>
          </a:p>
          <a:p>
            <a:r>
              <a:rPr lang="es-MX" dirty="0"/>
              <a:t>4. DELPHI</a:t>
            </a:r>
          </a:p>
          <a:p>
            <a:r>
              <a:rPr lang="es-MX" dirty="0"/>
              <a:t>5. PHP</a:t>
            </a:r>
          </a:p>
          <a:p>
            <a:r>
              <a:rPr lang="es-MX" dirty="0"/>
              <a:t>-</a:t>
            </a:r>
            <a:r>
              <a:rPr lang="es-MX" dirty="0">
                <a:sym typeface="Wingdings" panose="05000000000000000000" pitchFamily="2" charset="2"/>
              </a:rPr>
              <a:t>c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3264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5BA4CC-6328-43ED-B05C-6BAB19C55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41" y="238632"/>
            <a:ext cx="10174288" cy="61186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sz="1600" dirty="0"/>
              <a:t>2. Una institución de educación superior propone para su autorización a nivel directivo, sus políticas </a:t>
            </a:r>
            <a:r>
              <a:rPr lang="es-MX" sz="1400" dirty="0"/>
              <a:t>de seguridad en materia de tecnologías de</a:t>
            </a:r>
          </a:p>
          <a:p>
            <a:pPr marL="0" indent="0">
              <a:buNone/>
            </a:pPr>
            <a:r>
              <a:rPr lang="es-MX" sz="1400" dirty="0"/>
              <a:t>la información y la comunicación; con relación a las contraseñas, todas las siguientes son válidas, excepto:</a:t>
            </a:r>
          </a:p>
          <a:p>
            <a:pPr marL="0" indent="0">
              <a:buNone/>
            </a:pPr>
            <a:r>
              <a:rPr lang="es-MX" sz="1400" dirty="0"/>
              <a:t>Opciones de respuesta:</a:t>
            </a:r>
          </a:p>
          <a:p>
            <a:pPr marL="0" indent="0">
              <a:buNone/>
            </a:pPr>
            <a:r>
              <a:rPr lang="es-MX" sz="1400" dirty="0"/>
              <a:t>a) Longitud mínima de ocho caracteres</a:t>
            </a:r>
          </a:p>
          <a:p>
            <a:pPr marL="0" indent="0">
              <a:buNone/>
            </a:pPr>
            <a:r>
              <a:rPr lang="es-MX" sz="1400" dirty="0"/>
              <a:t>b) Que contengan símbolos, números y letras</a:t>
            </a:r>
          </a:p>
          <a:p>
            <a:pPr marL="0" indent="0">
              <a:buNone/>
            </a:pPr>
            <a:r>
              <a:rPr lang="es-MX" sz="1400" dirty="0"/>
              <a:t>c) Diferentes al nombre del usuario</a:t>
            </a:r>
          </a:p>
          <a:p>
            <a:pPr marL="0" indent="0">
              <a:buNone/>
            </a:pPr>
            <a:r>
              <a:rPr lang="es-MX" sz="1400" dirty="0"/>
              <a:t>d) Asociadas a una pregunta secreta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s-MX" sz="1400" dirty="0"/>
              <a:t>C</a:t>
            </a:r>
          </a:p>
          <a:p>
            <a:pPr marL="0" indent="0">
              <a:buNone/>
            </a:pPr>
            <a:r>
              <a:rPr lang="es-MX" sz="1400" dirty="0"/>
              <a:t>3. Una empresa de productos en línea blanca necesita un sitio web para vender sus productos por internet. Este sitio debe permitir cambiar</a:t>
            </a:r>
          </a:p>
          <a:p>
            <a:pPr marL="0" indent="0">
              <a:buNone/>
            </a:pPr>
            <a:r>
              <a:rPr lang="es-MX" sz="1400" dirty="0"/>
              <a:t>algunas áreas de las páginas sin necesidad de actualizar toda la página. ¿Qué tecnología permite llevar a cabo esta área?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s-MX" sz="1400" dirty="0">
                <a:sym typeface="Wingdings" panose="05000000000000000000" pitchFamily="2" charset="2"/>
              </a:rPr>
              <a:t>A</a:t>
            </a:r>
          </a:p>
          <a:p>
            <a:pPr marL="0" indent="0">
              <a:buNone/>
            </a:pPr>
            <a:r>
              <a:rPr lang="es-MX" sz="1400" dirty="0">
                <a:sym typeface="Wingdings" panose="05000000000000000000" pitchFamily="2" charset="2"/>
              </a:rPr>
              <a:t>4-Usted es el administrador de una empresa y se enfrenta al problema de que la cantidad de información que necesita para realizar algunas de</a:t>
            </a:r>
          </a:p>
          <a:p>
            <a:pPr marL="0" indent="0">
              <a:buNone/>
            </a:pPr>
            <a:r>
              <a:rPr lang="es-MX" sz="1400" dirty="0">
                <a:sym typeface="Wingdings" panose="05000000000000000000" pitchFamily="2" charset="2"/>
              </a:rPr>
              <a:t>sus funciones crece diariamente, lo cual retrasa el cumplimiento de sus tareas e incrementa los errores en dichas actividades; por lo tanto,</a:t>
            </a:r>
          </a:p>
          <a:p>
            <a:pPr marL="0" indent="0">
              <a:buNone/>
            </a:pPr>
            <a:r>
              <a:rPr lang="es-MX" sz="1400" dirty="0">
                <a:sym typeface="Wingdings" panose="05000000000000000000" pitchFamily="2" charset="2"/>
              </a:rPr>
              <a:t>requiere un sistema que le permita extraer y dar seguimiento a información crítica del negocio y que sea muy fácil de utilizar para que usted no</a:t>
            </a:r>
          </a:p>
          <a:p>
            <a:pPr marL="0" indent="0">
              <a:buNone/>
            </a:pPr>
            <a:r>
              <a:rPr lang="es-MX" sz="1400" dirty="0">
                <a:sym typeface="Wingdings" panose="05000000000000000000" pitchFamily="2" charset="2"/>
              </a:rPr>
              <a:t>dependa de personal especializado. Selección el sistema adecuado a sus necesidades.</a:t>
            </a:r>
          </a:p>
          <a:p>
            <a:pPr marL="0" indent="0">
              <a:buNone/>
            </a:pPr>
            <a:r>
              <a:rPr lang="es-MX" sz="1400" dirty="0">
                <a:sym typeface="Wingdings" panose="05000000000000000000" pitchFamily="2" charset="2"/>
              </a:rPr>
              <a:t>Opciones de respuesta:</a:t>
            </a:r>
          </a:p>
          <a:p>
            <a:pPr marL="0" indent="0">
              <a:buNone/>
            </a:pPr>
            <a:r>
              <a:rPr lang="es-MX" sz="1400" dirty="0">
                <a:sym typeface="Wingdings" panose="05000000000000000000" pitchFamily="2" charset="2"/>
              </a:rPr>
              <a:t>a) Información ejecutiva</a:t>
            </a:r>
          </a:p>
          <a:p>
            <a:pPr marL="0" indent="0">
              <a:buNone/>
            </a:pPr>
            <a:r>
              <a:rPr lang="es-MX" sz="1400" dirty="0">
                <a:sym typeface="Wingdings" panose="05000000000000000000" pitchFamily="2" charset="2"/>
              </a:rPr>
              <a:t>b) Gestión de conocimiento</a:t>
            </a:r>
          </a:p>
          <a:p>
            <a:pPr marL="0" indent="0">
              <a:buNone/>
            </a:pPr>
            <a:r>
              <a:rPr lang="es-MX" sz="1400" dirty="0">
                <a:sym typeface="Wingdings" panose="05000000000000000000" pitchFamily="2" charset="2"/>
              </a:rPr>
              <a:t>c) Experto</a:t>
            </a:r>
          </a:p>
          <a:p>
            <a:pPr marL="0" indent="0">
              <a:buNone/>
            </a:pPr>
            <a:r>
              <a:rPr lang="es-MX" sz="1400" dirty="0">
                <a:sym typeface="Wingdings" panose="05000000000000000000" pitchFamily="2" charset="2"/>
              </a:rPr>
              <a:t>d) Soporte de grupo</a:t>
            </a:r>
          </a:p>
          <a:p>
            <a:pPr marL="0" indent="0">
              <a:buNone/>
            </a:pPr>
            <a:r>
              <a:rPr lang="es-MX" sz="1400" dirty="0">
                <a:sym typeface="Wingdings" panose="05000000000000000000" pitchFamily="2" charset="2"/>
              </a:rPr>
              <a:t> B</a:t>
            </a:r>
            <a:endParaRPr lang="es-MX" sz="1400" dirty="0"/>
          </a:p>
          <a:p>
            <a:pPr marL="0" indent="0">
              <a:buNone/>
            </a:pP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1894928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EA49A-1A63-4DD3-96DA-801156E7E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AEF8F5-52F9-496B-9BB0-7C4AC0341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504" y="1853248"/>
            <a:ext cx="10134531" cy="4552034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Este tarea me ayudó mucho ya que me enseñó a tener una buena sintaxis al momento de programar, lo cual me ayudará al momento de crear mi código para que otros programadores puedan tener un buen entendimiento de él.</a:t>
            </a:r>
          </a:p>
          <a:p>
            <a:pPr marL="0" indent="0">
              <a:buNone/>
            </a:pPr>
            <a:r>
              <a:rPr lang="es-MX" dirty="0"/>
              <a:t>La otro técnica importante que vimos es el </a:t>
            </a:r>
            <a:r>
              <a:rPr lang="es-MX" dirty="0" err="1"/>
              <a:t>debuging</a:t>
            </a:r>
            <a:r>
              <a:rPr lang="es-MX" dirty="0"/>
              <a:t> el cual es muy importante ya que ayuda a encontrar errores de una manera mas sencilla.</a:t>
            </a:r>
          </a:p>
        </p:txBody>
      </p:sp>
    </p:spTree>
    <p:extLst>
      <p:ext uri="{BB962C8B-B14F-4D97-AF65-F5344CB8AC3E}">
        <p14:creationId xmlns:p14="http://schemas.microsoft.com/office/powerpoint/2010/main" val="39996649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313</TotalTime>
  <Words>1252</Words>
  <Application>Microsoft Office PowerPoint</Application>
  <PresentationFormat>Panorámica</PresentationFormat>
  <Paragraphs>125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Century Gothic</vt:lpstr>
      <vt:lpstr>Wingdings</vt:lpstr>
      <vt:lpstr>Wingdings 3</vt:lpstr>
      <vt:lpstr>Ion</vt:lpstr>
      <vt:lpstr>Presentación de PowerPoint</vt:lpstr>
      <vt:lpstr>Introducción</vt:lpstr>
      <vt:lpstr>La Codificación </vt:lpstr>
      <vt:lpstr>6.2  La codificación </vt:lpstr>
      <vt:lpstr>6.2.1 El proseo de compilación   </vt:lpstr>
      <vt:lpstr>6.2.2 Reglas de codificación </vt:lpstr>
      <vt:lpstr>6.2.3 Aspectos clave en las reglas de codificación</vt:lpstr>
      <vt:lpstr>6.2.4.1 Convenciones para nombres de identificadores (variables, constantes, clases y métodos) </vt:lpstr>
      <vt:lpstr>6.2.4.2 Reglas para la declaración de identificadores (variables, constantes, clases y métodos)</vt:lpstr>
      <vt:lpstr>6.2.4.3 Reglas de indentación</vt:lpstr>
      <vt:lpstr>6.2.4.4 Reglas para el tamaño y partido de líneas</vt:lpstr>
      <vt:lpstr>6.2.4.5 Reglas para comentarios </vt:lpstr>
      <vt:lpstr>6.2.4.6 Reglas de utilización de espacios en blanco</vt:lpstr>
      <vt:lpstr>6.2.5 Otras reglas útiles</vt:lpstr>
      <vt:lpstr>6.2.5.1 Anidamiento de instrucciones</vt:lpstr>
      <vt:lpstr>6.2.6 Prácticas y tips recomendables </vt:lpstr>
      <vt:lpstr>6.3 Ejecución  del programa paso a paso para la detección y depuración de defectos en el código </vt:lpstr>
      <vt:lpstr>6.3.1 Ejemplo de debugging con NetBeans (Java)</vt:lpstr>
      <vt:lpstr>6.3.2Diferentes formas de avanzar el debugger. </vt:lpstr>
      <vt:lpstr>6.4 Refactorización de código</vt:lpstr>
      <vt:lpstr>Cuestionario </vt:lpstr>
      <vt:lpstr>Presentación de PowerPoint</vt:lpstr>
      <vt:lpstr>Presentación de PowerPoint</vt:lpstr>
      <vt:lpstr>Presentación de PowerPoint</vt:lpstr>
      <vt:lpstr>Conclusión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carlos pedroza</dc:creator>
  <cp:lastModifiedBy>juan carlos pedroza</cp:lastModifiedBy>
  <cp:revision>21</cp:revision>
  <dcterms:created xsi:type="dcterms:W3CDTF">2020-06-22T21:49:04Z</dcterms:created>
  <dcterms:modified xsi:type="dcterms:W3CDTF">2020-06-28T02:40:41Z</dcterms:modified>
</cp:coreProperties>
</file>